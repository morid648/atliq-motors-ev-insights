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9" r:id="rId6"/>
    <p:sldId id="261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71rGZHpozU&amp;list=LL&amp;index=1&amp;t=472s" TargetMode="External"/><Relationship Id="rId2" Type="http://schemas.openxmlformats.org/officeDocument/2006/relationships/hyperlink" Target="https://www.youtube.com/watch?v=UdMj8iKSCoc&amp;list=LL&amp;index=2&amp;t=5s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Y2I3NDk0ZGMtNzBlZS00YjBlLWE2MTgtNGFjM2M4OTAzYTA2IiwidCI6ImNlOGY3MTI3LWQzMDMtNDgxOC05NWJiLTJiNmExNTZiZDQ5NSIsImMiOjF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AB39E3-9465-B4FC-A726-C9BC66E0999E}"/>
              </a:ext>
            </a:extLst>
          </p:cNvPr>
          <p:cNvSpPr txBox="1"/>
          <p:nvPr/>
        </p:nvSpPr>
        <p:spPr>
          <a:xfrm>
            <a:off x="1758474" y="1939402"/>
            <a:ext cx="867505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Provide Insights to an Automotive company on Electric vehicles launch in India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D03AD5-7F34-8E0F-F20B-065688645F1E}"/>
              </a:ext>
            </a:extLst>
          </p:cNvPr>
          <p:cNvCxnSpPr/>
          <p:nvPr/>
        </p:nvCxnSpPr>
        <p:spPr>
          <a:xfrm>
            <a:off x="5572781" y="3672120"/>
            <a:ext cx="778771" cy="2596"/>
          </a:xfrm>
          <a:prstGeom prst="line">
            <a:avLst/>
          </a:prstGeom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D98B61-A4A4-6522-7C95-A2FBDE9C6D9C}"/>
              </a:ext>
            </a:extLst>
          </p:cNvPr>
          <p:cNvSpPr txBox="1"/>
          <p:nvPr/>
        </p:nvSpPr>
        <p:spPr>
          <a:xfrm>
            <a:off x="1758474" y="3834338"/>
            <a:ext cx="86750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Verdana Pro"/>
                <a:cs typeface="Calibri"/>
              </a:rPr>
              <a:t>Unguided Project - 3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3A2B13-BD16-8DFE-16A8-CBDA2A9857C8}"/>
              </a:ext>
            </a:extLst>
          </p:cNvPr>
          <p:cNvSpPr txBox="1"/>
          <p:nvPr/>
        </p:nvSpPr>
        <p:spPr>
          <a:xfrm>
            <a:off x="1758474" y="752043"/>
            <a:ext cx="86750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Helpful</a:t>
            </a:r>
            <a:r>
              <a:rPr lang="en-US" sz="3200" b="1" dirty="0">
                <a:solidFill>
                  <a:schemeClr val="bg1"/>
                </a:solidFill>
                <a:latin typeface="Verdana Pro"/>
                <a:cs typeface="Calibri"/>
              </a:rPr>
              <a:t> Resources </a:t>
            </a:r>
            <a:endParaRPr lang="en-US" sz="3200" b="1" dirty="0">
              <a:solidFill>
                <a:srgbClr val="00B050"/>
              </a:solidFill>
              <a:latin typeface="Verdana Pro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FC927-28DE-E886-FCDC-12CC2C409766}"/>
              </a:ext>
            </a:extLst>
          </p:cNvPr>
          <p:cNvSpPr txBox="1"/>
          <p:nvPr/>
        </p:nvSpPr>
        <p:spPr>
          <a:xfrm>
            <a:off x="1663583" y="2644170"/>
            <a:ext cx="958526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  <a:t>1.	</a:t>
            </a:r>
            <a:r>
              <a:rPr lang="en-US" sz="1600" b="1" dirty="0">
                <a:solidFill>
                  <a:schemeClr val="bg1"/>
                </a:solidFill>
                <a:latin typeface="Verdana Pro"/>
                <a:cs typeface="Calibri"/>
              </a:rPr>
              <a:t>Import csv to PostgreSQL - </a:t>
            </a:r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  <a:hlinkClick r:id="rId2"/>
              </a:rPr>
              <a:t>https://www.youtube.com/watch?v=UdMj8iKSCoc&amp;list=LL&amp;index=2&amp;t=5s</a:t>
            </a:r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  <a:t> </a:t>
            </a:r>
            <a:b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</a:br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  <a:t> </a:t>
            </a:r>
            <a:b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</a:br>
            <a:endParaRPr lang="en-US" sz="1600" b="1" dirty="0">
              <a:solidFill>
                <a:srgbClr val="00B050"/>
              </a:solidFill>
              <a:latin typeface="Verdana Pro"/>
              <a:cs typeface="Calibri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  <a:t>2.	</a:t>
            </a:r>
            <a:r>
              <a:rPr lang="en-US" sz="1600" b="1" dirty="0">
                <a:solidFill>
                  <a:schemeClr val="bg1"/>
                </a:solidFill>
                <a:latin typeface="Verdana Pro"/>
                <a:cs typeface="Calibri"/>
              </a:rPr>
              <a:t>Connect PostgreSQL to Power BI -</a:t>
            </a:r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  <a:hlinkClick r:id="rId3"/>
              </a:rPr>
              <a:t>https://www.youtube.com/watch?v=P71rGZHpozU&amp;list=LL&amp;index=1&amp;t=472s</a:t>
            </a:r>
            <a:r>
              <a:rPr lang="en-US" sz="1600" b="1" dirty="0">
                <a:solidFill>
                  <a:srgbClr val="00B050"/>
                </a:solidFill>
                <a:latin typeface="Verdana Pro"/>
                <a:cs typeface="Calibri"/>
              </a:rPr>
              <a:t>  </a:t>
            </a:r>
          </a:p>
          <a:p>
            <a:endParaRPr lang="en-US" sz="1600" b="1" dirty="0">
              <a:solidFill>
                <a:srgbClr val="00B050"/>
              </a:solidFill>
              <a:latin typeface="Verdan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000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F92C-6B69-6A35-2271-EE0F27067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BBFA8A-83D8-FE72-6376-9060CE169A59}"/>
              </a:ext>
            </a:extLst>
          </p:cNvPr>
          <p:cNvSpPr txBox="1"/>
          <p:nvPr/>
        </p:nvSpPr>
        <p:spPr>
          <a:xfrm>
            <a:off x="1758474" y="475998"/>
            <a:ext cx="86750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Verdana Pro"/>
                <a:cs typeface="Calibri"/>
              </a:rPr>
              <a:t>Data Modeling - </a:t>
            </a:r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Relationships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B1B92-CFC3-D494-7FB7-8737216B0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388192"/>
            <a:ext cx="10050278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2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3A2B13-BD16-8DFE-16A8-CBDA2A9857C8}"/>
              </a:ext>
            </a:extLst>
          </p:cNvPr>
          <p:cNvSpPr txBox="1"/>
          <p:nvPr/>
        </p:nvSpPr>
        <p:spPr>
          <a:xfrm>
            <a:off x="1865479" y="439445"/>
            <a:ext cx="86750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Verdana Pro"/>
                <a:cs typeface="Calibri"/>
              </a:rPr>
              <a:t>Data </a:t>
            </a:r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Modeling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2A82F9-9A0F-3D99-B711-123645DBA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497" y="1122196"/>
            <a:ext cx="7453006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89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599F57-1189-9AD0-1CD5-4A7D10462C72}"/>
              </a:ext>
            </a:extLst>
          </p:cNvPr>
          <p:cNvSpPr txBox="1"/>
          <p:nvPr/>
        </p:nvSpPr>
        <p:spPr>
          <a:xfrm>
            <a:off x="1839600" y="305220"/>
            <a:ext cx="86750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Report </a:t>
            </a:r>
          </a:p>
        </p:txBody>
      </p:sp>
      <p:pic>
        <p:nvPicPr>
          <p:cNvPr id="7" name="Picture 6" descr="A cartoon of a person wearing headphones and a red sweatshirt&#10;&#10;Description automatically generated">
            <a:extLst>
              <a:ext uri="{FF2B5EF4-FFF2-40B4-BE49-F238E27FC236}">
                <a16:creationId xmlns:a16="http://schemas.microsoft.com/office/drawing/2014/main" id="{BB18E015-E3E5-F59C-A2D9-F0658D633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29641" y="3429000"/>
            <a:ext cx="2967967" cy="296796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044DF4C-893A-1CE7-DAD7-C7DF74394116}"/>
              </a:ext>
            </a:extLst>
          </p:cNvPr>
          <p:cNvGrpSpPr/>
          <p:nvPr/>
        </p:nvGrpSpPr>
        <p:grpSpPr>
          <a:xfrm>
            <a:off x="7755796" y="3624210"/>
            <a:ext cx="2021494" cy="860459"/>
            <a:chOff x="6867404" y="2783226"/>
            <a:chExt cx="2021494" cy="86045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5C3C2FB-ED5E-4C2B-60F3-831C38EBC718}"/>
                </a:ext>
              </a:extLst>
            </p:cNvPr>
            <p:cNvSpPr/>
            <p:nvPr/>
          </p:nvSpPr>
          <p:spPr>
            <a:xfrm>
              <a:off x="6867404" y="2783226"/>
              <a:ext cx="1653703" cy="515566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hlinkClick r:id="rId3"/>
                </a:rPr>
                <a:t>Live</a:t>
              </a:r>
              <a:r>
                <a:rPr lang="en-US" b="1" dirty="0"/>
                <a:t> Report</a:t>
              </a:r>
              <a:endParaRPr lang="en-IN" b="1" dirty="0"/>
            </a:p>
          </p:txBody>
        </p:sp>
        <p:pic>
          <p:nvPicPr>
            <p:cNvPr id="13" name="Picture 12" descr="A white arrow pointing at a link&#10;&#10;Description automatically generated">
              <a:hlinkClick r:id="rId3"/>
              <a:extLst>
                <a:ext uri="{FF2B5EF4-FFF2-40B4-BE49-F238E27FC236}">
                  <a16:creationId xmlns:a16="http://schemas.microsoft.com/office/drawing/2014/main" id="{0B883623-B009-B7C3-5F90-2689692D4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8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73398">
              <a:off x="8296772" y="3051559"/>
              <a:ext cx="592126" cy="592126"/>
            </a:xfrm>
            <a:prstGeom prst="rect">
              <a:avLst/>
            </a:prstGeom>
          </p:spPr>
        </p:pic>
      </p:grp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A061FDA-A9FB-298D-A7BC-8A85CF8C1D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2" y="1504564"/>
            <a:ext cx="7039747" cy="395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62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b8a4b99c-9b0e-4f59-aa2a-8b6a3de16c94" xsi:nil="true"/>
    <SharedWithUsers xmlns="eb6d4c3c-27e6-40f7-a5be-c2d429b5cb83">
      <UserInfo>
        <DisplayName>Padmini Prasad</DisplayName>
        <AccountId>288</AccountId>
        <AccountType/>
      </UserInfo>
    </SharedWithUsers>
    <lcf76f155ced4ddcb4097134ff3c332f xmlns="b8a4b99c-9b0e-4f59-aa2a-8b6a3de16c94">
      <Terms xmlns="http://schemas.microsoft.com/office/infopath/2007/PartnerControls"/>
    </lcf76f155ced4ddcb4097134ff3c332f>
    <TaxCatchAll xmlns="eb6d4c3c-27e6-40f7-a5be-c2d429b5cb8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4783CF63E7D41B69B4E41169D380C" ma:contentTypeVersion="15" ma:contentTypeDescription="Create a new document." ma:contentTypeScope="" ma:versionID="7a00cfe796a11df96c1d691d73b52823">
  <xsd:schema xmlns:xsd="http://www.w3.org/2001/XMLSchema" xmlns:xs="http://www.w3.org/2001/XMLSchema" xmlns:p="http://schemas.microsoft.com/office/2006/metadata/properties" xmlns:ns2="b8a4b99c-9b0e-4f59-aa2a-8b6a3de16c94" xmlns:ns3="eb6d4c3c-27e6-40f7-a5be-c2d429b5cb83" targetNamespace="http://schemas.microsoft.com/office/2006/metadata/properties" ma:root="true" ma:fieldsID="4ec0ebb07fdc485f5405f8dfdd91a426" ns2:_="" ns3:_="">
    <xsd:import namespace="b8a4b99c-9b0e-4f59-aa2a-8b6a3de16c94"/>
    <xsd:import namespace="eb6d4c3c-27e6-40f7-a5be-c2d429b5cb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4b99c-9b0e-4f59-aa2a-8b6a3de16c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6d4c3c-27e6-40f7-a5be-c2d429b5cb8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2fa157d-dbc5-475c-98c6-31cf1364f70c}" ma:internalName="TaxCatchAll" ma:showField="CatchAllData" ma:web="eb6d4c3c-27e6-40f7-a5be-c2d429b5cb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A34B22-CB82-4B22-83DD-90DA34BE4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2B7AEE-ACBB-432D-84F6-438D2DA8CF26}">
  <ds:schemaRefs>
    <ds:schemaRef ds:uri="eb6d4c3c-27e6-40f7-a5be-c2d429b5cb83"/>
    <ds:schemaRef ds:uri="http://purl.org/dc/terms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b8a4b99c-9b0e-4f59-aa2a-8b6a3de16c94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C05ACA9-355C-4907-B27D-C68FF6E27A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a4b99c-9b0e-4f59-aa2a-8b6a3de16c94"/>
    <ds:schemaRef ds:uri="eb6d4c3c-27e6-40f7-a5be-c2d429b5cb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97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Verdana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Athar Mohiuddin</dc:creator>
  <cp:lastModifiedBy>Ahmed Athar Mohiuddin</cp:lastModifiedBy>
  <cp:revision>39</cp:revision>
  <dcterms:created xsi:type="dcterms:W3CDTF">2023-09-20T12:58:25Z</dcterms:created>
  <dcterms:modified xsi:type="dcterms:W3CDTF">2025-01-03T04:36:07Z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1018300</vt:r8>
  </property>
  <property fmtid="{D5CDD505-2E9C-101B-9397-08002B2CF9AE}" pid="3" name="MediaServiceImageTags">
    <vt:lpwstr/>
  </property>
  <property fmtid="{D5CDD505-2E9C-101B-9397-08002B2CF9AE}" pid="4" name="ContentTypeId">
    <vt:lpwstr>0x010100E9B4783CF63E7D41B69B4E41169D380C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