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Bruce, members of the Board: AtliQ Motors is an established powerhouse in North America with 25% EV/hybrid market share, but in India, we represent under 2%. India is not a monolithic market; it is an aggregation of 35 diverse regulatory regimes. Today we present an empirical blueprint built upon 57.2 million registrations to execute a defensible, high-margin market entry without getting crushed in price wars.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outlines the macroeconomic landscape. Over the last 3 years, 2.07 million EVs were sold across India out of 57.2 million registrations. However, look at the divergence: 2-wheelers represent 90% of all electric volume, while 4-wheelers are only 108,000 units. Tata Motors effectively owns 4W with 67% share, and Ola owns 2W with 35%. Entering requires precision, not brute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we base multi-million dollar capital expenditure decisions on analytical models, we must audit data provenance. We uncovered two critical errors: First, the reference DAX measure for 2024 Revenue was copying 2023 filters, which showed zero growth! Second, prototype dashboard cards combined 2 years of sales, giving an inflated view of volume. We corrected both in our PostgreSQL and DAX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Slide 4 for our geographic deployment strategy. National penetration is 3.6%, but Goa and Kerala are above 11%. More importantly, 58% of all 4-wheeler EVs are bought in just 4 states: Maharashtra, Karnataka, Tamil Nadu, and Gujarat. This means AtliQ should not open 100 dealerships nationwide; we should open 15 flagship experience centers across these 4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is the core thesis of our entry. Tata Motors has 67% market share, but look at where they play: budget cars between ₹8L and ₹18L. Attempting to build an ₹10 Lakh electric hatchback would incinerate our margins against Tata's localized supply chain. Instead, we enter the ₹25L to ₹35L bracket where affluent IT buyers have almost zero compelling choices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analytics architecture sets us apart from basic spreadsheet models. We staged 57.2M records into PostgreSQL to enforce schema integrity, cleaned date serials, and built a pure Kimball star schema in Power BI. Every measure is mathematically verified against automated Python regression test suites.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launch lineup on Slide 7. Our hero product is the AtliQ Terra-E, priced at ₹27 Lakh with 520 km range. It addresses Indian buyers' two biggest fears: real-world highway range and overheating batteries. Following Terra-E, we launch the Aero-Cross at ₹21.5 Lakh to capture Creta and Seltos upgrades, and the Pulse for airport chauffeur fleets.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shows the financial arithmetic. By 2030, India's 4W EV market will reach 1.1 million vehicles annually. Capturing just 3.5% of this market in Year 3—which is only 12,000 cars—generates ₹2,880 Crore in annual revenue. With an 18.5% gross vehicle margin and breakeven at 4,200 units, the investment profile is exceptionally attractive.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operationalize this strategy, we propose an 18-month execution roadmap: First, secure a CKD assembly facility in Tamil Nadu or Maharashtra to bypass the 100% CBU import tariff. Second, establish our flagship retail network across the top 4 states. Third, co-invest in a charging joint venture. And fourth, deliver the Terra-E by Month 18. We request board sanction to initiate Phase 1 site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★ ATLIQ MOTORS C-SUITE STRATEGY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India EV Market-Entry Strategy</a:t>
            </a:r>
          </a:p>
          <a:p>
            <a:pPr>
              <a:spcBef>
                <a:spcPts val="800"/>
              </a:spcBef>
              <a:defRPr sz="1600">
                <a:solidFill>
                  <a:srgbClr val="38BDF8"/>
                </a:solidFill>
                <a:latin typeface="Calibri"/>
              </a:defRPr>
            </a:pPr>
            <a:r>
              <a:t>Reconciling 57.2M Registrations Across 35 States to Capture India's $25B EV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3200400" cy="182880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5661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Empirical Ground Truth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Synthesized 57,220,252 vehicle registrations and 2,066,111 EV sales (FY22–FY24), resolving 2 critical DAX and reporting discrepancies.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474720"/>
            <a:ext cx="3200400" cy="182880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5661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The 4W Monopoly Cliff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Tata Motors controls 67.4% of 4W EVs; competing in sub-₹15L hatchbacks is fatal. AtliQ must target the high-margin ₹22L–₹35L C-segment SUV vacuum.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474720"/>
            <a:ext cx="3200400" cy="182880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5661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Trebuchet MS"/>
              </a:defRPr>
            </a:pPr>
            <a:r>
              <a:t>Commercial Headroom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Projected FY30 market of 23.4M EVs. Capturing 3.5% of premium 4W market delivers ₹2,880 Cr in annual high-margin vehicle and software revenue.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PORTFOLIO DISCOVERY &amp; MARKET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National EV Baseline &amp; Category Divergence (FY2022–FY2024)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TOTAL AUTO REGISTRATIONS</a:t>
            </a:r>
          </a:p>
          <a:p>
            <a:pPr>
              <a:spcBef>
                <a:spcPts val="400"/>
              </a:spcBef>
              <a:defRPr sz="2000" b="1">
                <a:solidFill>
                  <a:srgbClr val="38BDF8"/>
                </a:solidFill>
                <a:latin typeface="Consolas"/>
              </a:defRPr>
            </a:pPr>
            <a:r>
              <a:t>57.22 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✓ 3-Year National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6032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32588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TOTAL EV UNITS SOLD</a:t>
            </a:r>
          </a:p>
          <a:p>
            <a:pPr>
              <a:spcBef>
                <a:spcPts val="400"/>
              </a:spcBef>
              <a:defRPr sz="2000" b="1">
                <a:solidFill>
                  <a:srgbClr val="F59E0B"/>
                </a:solidFill>
                <a:latin typeface="Consolas"/>
              </a:defRPr>
            </a:pPr>
            <a:r>
              <a:t>2.07 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✓ 3.61% Blended Penetration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56032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32588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2W FY24 VOL / SHARE</a:t>
            </a:r>
          </a:p>
          <a:p>
            <a:pPr>
              <a:spcBef>
                <a:spcPts val="400"/>
              </a:spcBef>
              <a:defRPr sz="2000" b="1">
                <a:solidFill>
                  <a:srgbClr val="10B981"/>
                </a:solidFill>
                <a:latin typeface="Consolas"/>
              </a:defRPr>
            </a:pPr>
            <a:r>
              <a:t>943.9 K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✓ 34.6% Ola / 19.4% TVS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560320" cy="13716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325880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4W FY24 VOL / SHARE</a:t>
            </a:r>
          </a:p>
          <a:p>
            <a:pPr>
              <a:spcBef>
                <a:spcPts val="400"/>
              </a:spcBef>
              <a:defRPr sz="2000" b="1">
                <a:solidFill>
                  <a:srgbClr val="F43F5E"/>
                </a:solidFill>
                <a:latin typeface="Consolas"/>
              </a:defRPr>
            </a:pPr>
            <a:r>
              <a:t>108.5 K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  <a:latin typeface="Calibri"/>
              </a:defRPr>
            </a:pPr>
            <a:r>
              <a:t>✓ 67.4% Tata Motors Dominance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303520" cy="356616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Key Empirical Takeaways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• Explosive 2W Electrification: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2-Wheelers represent 90.7% of all EV sales in FY2024, expanding from 248k units (FY22) to 944k units (FY24), driven by FAME subsidies and delivery fleets.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• 4-Wheeler Market Lag: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4-Wheeler EV penetration sits at only 2.66% nationally in FY2024 (108,527 units). High upfront costs and charging anxiety restrict adoption to urban multi-car households.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• Q4 Seasonality Surge: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Every single fiscal year experiences a massive Q4 (Jan–Mar) spike (FY24: 318k units), driven by state EV subsidy sunset dates and commercial depreciation targets.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242255" cy="356616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National Maker Concentration (FY2024)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  <a:latin typeface="Consolas"/>
              </a:defRPr>
            </a:pPr>
            <a:r>
              <a:t>OLA ELECTRIC (2W Leader): 322,489 units (34.58% Share) • +111.4% YoY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  <a:latin typeface="Consolas"/>
              </a:defRPr>
            </a:pPr>
            <a:r>
              <a:t>TVS MOTOR CO (2W Challenger): 180,743 units (19.38% Share) • +120.2% YoY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  <a:latin typeface="Consolas"/>
              </a:defRPr>
            </a:pPr>
            <a:r>
              <a:t>TATA MOTORS (4W Monopoly): 73,126 units (67.38% Share) • +84.2% YoY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  <a:latin typeface="Consolas"/>
              </a:defRPr>
            </a:pPr>
            <a:r>
              <a:t>MG MOTOR INDIA (4W Runner-up): 12,610 units (11.62% Share) • +123.5% YoY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  <a:latin typeface="Consolas"/>
              </a:defRPr>
            </a:pPr>
            <a:r>
              <a:t>MAHINDRA &amp; MAHINDRA (4W Contender): 9,800 units (9.03% Share) • New Entry XUV400</a:t>
            </a:r>
          </a:p>
          <a:p>
            <a:pPr>
              <a:spcBef>
                <a:spcPts val="1400"/>
              </a:spcBef>
              <a:defRPr sz="950">
                <a:solidFill>
                  <a:srgbClr val="F59E0B"/>
                </a:solidFill>
                <a:latin typeface="Calibri"/>
              </a:defRPr>
            </a:pPr>
            <a:r>
              <a:t>Key C-Suite Takeaway: The top 3 makers control 65.5% of 2-Wheelers, while Tata Motors alone commands 67.4% of 4-Wheelers. India is not a fragmented greenfield; it is a high-barrier entrenched duopoly.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QUALITY ASSURANCE &amp; SPECIFICATION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Upstream Defect Containment &amp; Data Integrity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Trebuchet MS"/>
              </a:defRPr>
            </a:pPr>
            <a:r>
              <a:t>Discrepancy 1: Defective '2024 Revenue' DAX Spec</a:t>
            </a:r>
          </a:p>
          <a:p>
            <a:pPr>
              <a:spcBef>
                <a:spcPts val="800"/>
              </a:spcBef>
              <a:defRPr sz="900" b="1">
                <a:solidFill>
                  <a:srgbClr val="F43F5E"/>
                </a:solidFill>
                <a:latin typeface="Consolas"/>
              </a:defRPr>
            </a:pPr>
            <a:r>
              <a:t>DEFECT IN SUPPLIED EXCEL FORMULA SHEET: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In `DAX_Measures_And_Calculated_Columns_AtliQ_Motors.xlsx`, the formula for '2024 Revenue' was copy-pasted directly from 2023:</a:t>
            </a:r>
            <a:br/>
            <a:r>
              <a:t>`CALCULATE(..., dim_date[fiscal_year] = 2023)`</a:t>
            </a:r>
          </a:p>
          <a:p>
            <a:pPr>
              <a:spcBef>
                <a:spcPts val="1000"/>
              </a:spcBef>
              <a:defRPr sz="900" b="1">
                <a:solidFill>
                  <a:srgbClr val="F59E0B"/>
                </a:solidFill>
                <a:latin typeface="Consolas"/>
              </a:defRPr>
            </a:pPr>
            <a:r>
              <a:t>CRITICAL BUSINESS IMPACT IF UNNOTICED: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Because 2024 Revenue equaled 2023 Revenue, the dependent growth measure `Revenue Growth Rate 2023-2024` evaluated to EXACTLY 0.00%, masking a 48.7% real market revenue expansion!</a:t>
            </a:r>
          </a:p>
          <a:p>
            <a:pPr>
              <a:spcBef>
                <a:spcPts val="1000"/>
              </a:spcBef>
              <a:defRPr sz="900" b="1">
                <a:solidFill>
                  <a:srgbClr val="10B981"/>
                </a:solidFill>
                <a:latin typeface="Consolas"/>
              </a:defRPr>
            </a:pPr>
            <a:r>
              <a:t>✓ GROUND TRUTH RECONCILIATION: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Corrected filter to `fiscal_year = 2024`. True FY2024 market revenue is ₹20,293 Cr (up from ₹13,648 Cr in FY23), directly validating Question P10.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Discrepancy 2: Walkthrough Cards 2-Year Conflation</a:t>
            </a:r>
          </a:p>
          <a:p>
            <a:pPr>
              <a:spcBef>
                <a:spcPts val="800"/>
              </a:spcBef>
              <a:defRPr sz="900" b="1">
                <a:solidFill>
                  <a:srgbClr val="F59E0B"/>
                </a:solidFill>
                <a:latin typeface="Consolas"/>
              </a:defRPr>
            </a:pPr>
            <a:r>
              <a:t>MISLEADING KPI CARD LABELS IN PROTOTYPE: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The legacy dashboard cards displayed Top Makers as OLA (475K), TVS (263K), and ATHER (184K) without disclosing the time horizon, creating confusion about annual market share.</a:t>
            </a:r>
          </a:p>
          <a:p>
            <a:pPr>
              <a:spcBef>
                <a:spcPts val="1000"/>
              </a:spcBef>
              <a:defRPr sz="900" b="1">
                <a:solidFill>
                  <a:srgbClr val="10B981"/>
                </a:solidFill>
                <a:latin typeface="Consolas"/>
              </a:defRPr>
            </a:pPr>
            <a:r>
              <a:t>✓ MATHEMATICAL AUDIT PROOF: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Auditing raw SQL transactions proved these figures represent FY2023 + FY2024 cumulative volume:</a:t>
            </a:r>
            <a:br/>
            <a:r>
              <a:t>• OLA: 152,583 + 322,489 = 475,072</a:t>
            </a:r>
            <a:br/>
            <a:r>
              <a:t>• TVS: 82,093 + 180,743 = 262,836</a:t>
            </a:r>
            <a:br/>
            <a:r>
              <a:t>• ATHER: 76,921 + 107,552 = 184,473</a:t>
            </a:r>
          </a:p>
          <a:p>
            <a:pPr>
              <a:spcBef>
                <a:spcPts val="1000"/>
              </a:spcBef>
              <a:defRPr sz="950">
                <a:solidFill>
                  <a:srgbClr val="38BDF8"/>
                </a:solidFill>
                <a:latin typeface="Calibri"/>
              </a:defRPr>
            </a:pPr>
            <a:r>
              <a:t>Separating FY24 single-year performance from multi-year totals ensures executive forecasts use true trailing run rates rather than blended historical averages.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GEOGRAPHIC PRIORITIZATION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State-by-State EV Penetration &amp; Infrastructure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FY2024 Combined EV Penetration Top 5</a:t>
            </a:r>
          </a:p>
          <a:p>
            <a:pPr>
              <a:spcBef>
                <a:spcPts val="800"/>
              </a:spcBef>
              <a:defRPr sz="1200" b="1">
                <a:solidFill>
                  <a:srgbClr val="F43F5E"/>
                </a:solidFill>
                <a:latin typeface="Trebuchet MS"/>
              </a:defRPr>
            </a:pPr>
            <a:r>
              <a:t>Goa: 13.75%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2W: 17.99% • 4W: 4.25% • High tourist rental &amp; clean energy policy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Trebuchet MS"/>
              </a:defRPr>
            </a:pPr>
            <a:r>
              <a:t>Kerala: 11.59%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2W: 13.52% • 4W: 5.76% (Highest 4W penetration nationwide)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Karnataka: 10.18%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2W: 11.57% • 4W: 4.26% • Bengaluru tech capital density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Trebuchet MS"/>
              </a:defRPr>
            </a:pPr>
            <a:r>
              <a:t>Maharashtra: 8.60%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2W: 10.07% • 4W: 4.01% • Absolute volume powerhouse</a:t>
            </a:r>
          </a:p>
          <a:p>
            <a:pPr>
              <a:spcBef>
                <a:spcPts val="800"/>
              </a:spcBef>
              <a:defRPr sz="1200" b="1">
                <a:solidFill>
                  <a:srgbClr val="A855F7"/>
                </a:solidFill>
                <a:latin typeface="Trebuchet MS"/>
              </a:defRPr>
            </a:pPr>
            <a:r>
              <a:t>Delhi NCR: 7.71%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2W: 9.40% • 4W: 4.29% • Aggressive EV subsidies &amp; road tax waiver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Trebuchet MS"/>
              </a:defRPr>
            </a:pPr>
            <a:r>
              <a:t>Infrastructure &amp; Incentive Correlation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• The 4-State Super-Cluster: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Maharashtra, Karnataka, Tamil Nadu, and Gujarat account for 58.4% of all 4W EV sales. Launching nationwide is a waste of capital; our retail distribution must focus exclusively on this golden corridor.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• Kerala's 4W Anomaly (5.76%):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Kerala has the highest 4W EV adoption in India due to high remittance disposable income, dense highway corridors, and progressive home rooftop solar penetration.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43F5E"/>
                </a:solidFill>
                <a:latin typeface="Trebuchet MS"/>
              </a:defRPr>
            </a:pPr>
            <a:r>
              <a:t>• Negative Penetration Warning: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Andaman &amp; Nicobar recorded a negative penetration change (-0.72% from FY22 to FY24), proving that EV adoption collapses if charging infrastructure and grid reliability are not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COMPETITIVE MOAT &amp; MARKET 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The 4-Wheeler Vacuum: Why Tata's Dominance is AtliQ's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Trebuchet MS"/>
              </a:defRPr>
            </a:pPr>
            <a:r>
              <a:t>Current 4W Market Architecture (FY24)</a:t>
            </a:r>
          </a:p>
          <a:p>
            <a:pPr>
              <a:spcBef>
                <a:spcPts val="800"/>
              </a:spcBef>
              <a:defRPr sz="1200" b="1">
                <a:solidFill>
                  <a:srgbClr val="F43F5E"/>
                </a:solidFill>
                <a:latin typeface="Trebuchet MS"/>
              </a:defRPr>
            </a:pPr>
            <a:r>
              <a:t>Tata Motors Fortress: 67.38% Market Share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Tata commands the Indian market with 73,126 units sold in FY24 across three models:</a:t>
            </a:r>
            <a:br/>
            <a:r>
              <a:t>• Tiago EV (₹8.5L – ₹12L): Budget mass volume</a:t>
            </a:r>
            <a:br/>
            <a:r>
              <a:t>• Tigor EV (₹12L – ₹14L): Fleet &amp; taxi entry</a:t>
            </a:r>
            <a:br/>
            <a:r>
              <a:t>• Nexon EV (₹14.5L – ₹19L): Mid-market compact SUV</a:t>
            </a:r>
            <a:br/>
            <a:br/>
            <a:r>
              <a:t>Directly competing in the sub-₹15 Lakh segment is fatal: Tata has 85% localization, battery assembly scale, and 1,000+ service touchpoints.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  <a:latin typeface="Trebuchet MS"/>
              </a:defRPr>
            </a:pPr>
            <a:r>
              <a:t>The Premium White Space: ₹22L – ₹35L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Above ₹20L, Indian buyers only have MG ZS EV (₹25L) and BYD Atto 3 (₹34L). Luxury Germans (BMW, Mercedes) start at ₹65L+. There is a massive product vacuum in the ₹22L–₹35L executive crossover bracket!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Trebuchet MS"/>
              </a:defRPr>
            </a:pPr>
            <a:r>
              <a:t>AtliQ Motors Competitive Moat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• Proprietary Battery Thermal Management: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Indian summer ambient temperatures exceed 45°C. AtliQ's liquid-cooled battery pack chemistry (proven in Arizona/Nevada) eliminates battery degradation and fire anxiety.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• Software-Defined Vehicle (SDV) Superiority: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Indian EV software is laggy and clunky. AtliQ's North American OTA platform (autonomous parking, route charging planner, mobile digital key) creates immediate premium differentiation.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• The Upgrade Pathway for 1.5M Tech Pros: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India's 1.5 million salaried IT employees in Bangalore, Pune, and Gurgaon are moving out of Creta/Seltos ICE vehicles. They seek global brand status, not budget fleet cars.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ENTERPRISE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PostgreSQL Staging Layer &amp; Semantic Star Schema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Production Data Pipeline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• Stage 1: Raw Ingestion &amp; Cleansing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CSV files ingested into PostgreSQL with strict ISO dates (YYYY-MM-DD), foreign key integrity constraints, and normalized state/maker naming conventions.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• Stage 2: Relational Database Modeling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PostgreSQL physical tables with enforced PK/FK constraints (`dim_date`, `electric_vehicle_sales_by_makers`, `electric_vehicle_sales_by_state`).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• Stage 3: Power BI DirectQuery / VertiPaq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Star schema with pure 1:* single-direction relationships. Zero bi-directional cross-filtering, ensuring deterministic DAX measure evaluation.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• Stage 4: Automated Verification Suite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Python automated validation script (`scripts/compute_analytical_queries.py`) matching analytical SQL queries to DAX measure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Semantic Star Schema &amp; DAX Library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Consolas"/>
              </a:defRPr>
            </a:pPr>
            <a:r>
              <a:t>Penetration Rate %: `DIVIDE([EV Sales], [Total Vehicles Sold], 0)`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Evaluates 2W, 4W and Combined penetration dynamically across state slicers.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Consolas"/>
              </a:defRPr>
            </a:pPr>
            <a:r>
              <a:t>Compounded Annual Growth Rate (CAGR): `([End Vol] / [Start Vol])^(1/2) - 1`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Calculates FY22 to FY24 expansion rate for market projection models.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Consolas"/>
              </a:defRPr>
            </a:pPr>
            <a:r>
              <a:t>Corrected FY2024 Revenue: `CALCULATE(..., dim_date[fiscal_year]=2024)`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Resolves copy-paste defect D1, ensuring accurate revenue tracking.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Consolas"/>
              </a:defRPr>
            </a:pPr>
            <a:r>
              <a:t>Quarterly Seasonality Index: `DIVIDE([Quarterly EV Sales], [Total Fiscal EV Sales], 0)`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Isolates Q4 surge pattern across historical years.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PRODUCT POSITIONING &amp; COMMERCIAL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The 3-Tier Vehicle Portfolio Tailored for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FLAGSHIP HERO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Trebuchet MS"/>
              </a:defRPr>
            </a:pPr>
            <a:r>
              <a:t>AtliQ Terra-E (C-SUV)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Target: Urban Affluent &amp; Tech Execs</a:t>
            </a:r>
          </a:p>
          <a:p>
            <a:pPr>
              <a:spcBef>
                <a:spcPts val="1400"/>
              </a:spcBef>
              <a:defRPr sz="800" b="1">
                <a:solidFill>
                  <a:srgbClr val="94A3B8"/>
                </a:solidFill>
                <a:latin typeface="Consolas"/>
              </a:defRPr>
            </a:pPr>
            <a:r>
              <a:t>ENGINEERED SPECIFICATIONS: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Price: ₹26.99 Lakh (Ex-Showroom)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Range: 520 km ARAI certified (68 kWh LFP)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Dual-Zone Heat Pump &amp; Liquid Thermal Management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Level-2 ADAS tuned for Indian traffic conditions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Fast Charging: 10% to 80% in 28 mins (120 kW DC)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74720" cy="502920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716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Consolas"/>
              </a:defRPr>
            </a:pPr>
            <a:r>
              <a:t>VOLUME EXPANDER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Trebuchet MS"/>
              </a:defRPr>
            </a:pPr>
            <a:r>
              <a:t>AtliQ Aero-Cross (Crossover)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Target: Upgrading ICE Mid-SUV Buyers</a:t>
            </a:r>
          </a:p>
          <a:p>
            <a:pPr>
              <a:spcBef>
                <a:spcPts val="1400"/>
              </a:spcBef>
              <a:defRPr sz="800" b="1">
                <a:solidFill>
                  <a:srgbClr val="94A3B8"/>
                </a:solidFill>
                <a:latin typeface="Consolas"/>
              </a:defRPr>
            </a:pPr>
            <a:r>
              <a:t>ENGINEERED SPECIFICATIONS: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Price: ₹21.49 Lakh (Ex-Showroom)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Range: 420 km ARAI certified (50 kWh Battery)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High Ground Clearance (205 mm) for monsoons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Integrated Dashcam &amp; 360° Surround Camera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AtliQ Smart Cockpit with local Indian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280160"/>
            <a:ext cx="3474720" cy="5029200"/>
          </a:xfrm>
          <a:prstGeom prst="roundRect">
            <a:avLst/>
          </a:prstGeom>
          <a:solidFill>
            <a:srgbClr val="0E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37160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COMMERCIAL / FLEET WEDGE</a:t>
            </a:r>
          </a:p>
          <a:p>
            <a:pPr>
              <a:spcBef>
                <a:spcPts val="400"/>
              </a:spcBef>
              <a:defRPr sz="1500" b="1">
                <a:solidFill>
                  <a:srgbClr val="F8FAFC"/>
                </a:solidFill>
                <a:latin typeface="Trebuchet MS"/>
              </a:defRPr>
            </a:pPr>
            <a:r>
              <a:t>AtliQ Pulse (Premium Fleet)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Target: Executive Chauffeur &amp; Airport Fleets</a:t>
            </a:r>
          </a:p>
          <a:p>
            <a:pPr>
              <a:spcBef>
                <a:spcPts val="1400"/>
              </a:spcBef>
              <a:defRPr sz="800" b="1">
                <a:solidFill>
                  <a:srgbClr val="94A3B8"/>
                </a:solidFill>
                <a:latin typeface="Consolas"/>
              </a:defRPr>
            </a:pPr>
            <a:r>
              <a:t>ENGINEERED SPECIFICATIONS: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Price: ₹18.99 Lakh (Fleet Commercial Spec)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Range: 380 km (Heavy Duty Cycle)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Ultra-Durable LFP Battery (8-Yr / 250k km Warranty)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Telematics Fleet Management OS built-in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Calibri"/>
              </a:defRPr>
            </a:pPr>
            <a:r>
              <a:t>✓ Lower Operating Cost: ₹0.85 / km vs ₹6.50 Petrol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FINANCIAL SENSITIVITY &amp;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TAM Sizing to 2030 &amp; Year-1 to Year-3 P&amp;L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India 2030 EV Market Opportunity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• Total Projected EV Sales (2030): 23.4 Million Units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Assumes continuation of FY22-FY24 national CAGR.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• Projected 4W EV Annual Market: 1.10 Million Units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4W EV segment grows 10x from 108k units today.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• Total Addressable Market Value: ₹ 1,65,000 Crore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Assuming average 4W unit price of ₹15 Lakh.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• AtliQ Serviceable Addressable Market (SAM): ₹ 38,500 Crore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Premium C-segment SUV bracket (22L–35L).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• AtliQ Year-3 Target Market Share: 3.5% of 4W Market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Targeting 12,000 units annually across top 4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onsolas"/>
              </a:defRPr>
            </a:pPr>
            <a:r>
              <a:t>PROJECTED YEAR-3 ANNUAL REVENUE</a:t>
            </a:r>
          </a:p>
          <a:p>
            <a:pPr>
              <a:spcBef>
                <a:spcPts val="400"/>
              </a:spcBef>
              <a:defRPr sz="3800" b="1">
                <a:solidFill>
                  <a:srgbClr val="10B981"/>
                </a:solidFill>
                <a:latin typeface="Trebuchet MS"/>
              </a:defRPr>
            </a:pPr>
            <a:r>
              <a:t>₹ 2,880 Crore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Trebuchet MS"/>
              </a:defRPr>
            </a:pPr>
            <a:r>
              <a:t>Unit Economics &amp; Revenue Streams: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  <a:latin typeface="Calibri"/>
              </a:defRPr>
            </a:pPr>
            <a:r>
              <a:t>• Vehicle Hardware Sales (12,000 units @ ₹24L net): ₹ 2,880 Cr (Gross Margin: 18.5%)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Calibri"/>
              </a:defRPr>
            </a:pPr>
            <a:r>
              <a:t>• Software &amp; Autonomous Subscriptions (OTA): ₹ 48 Cr / yr (Gross Margin: 82.0%)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  <a:latin typeface="Calibri"/>
              </a:defRPr>
            </a:pPr>
            <a:r>
              <a:t>• Aftersales, Warranty &amp; Fast-Charging Network: ₹ 72 Cr / yr (Gross Margin: 35.0%)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Sensitivity: Breakeven occurs at 4,200 annual units (~₹1,050 Cr revenue) under local CKD assembly in Tamil Nadu, insulating AtliQ from high import tariffs.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ACTIONABLE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Four-Phase India Market Entry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6576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ATLIQ MOTORS • CXO STRATEGIC DOSSIER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41148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Consolas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Phase 1: Local Assembly &amp; PLI</a:t>
            </a:r>
          </a:p>
          <a:p>
            <a:pPr>
              <a:spcBef>
                <a:spcPts val="400"/>
              </a:spcBef>
              <a:defRPr sz="850">
                <a:solidFill>
                  <a:srgbClr val="F59E0B"/>
                </a:solidFill>
                <a:latin typeface="Consolas"/>
              </a:defRPr>
            </a:pPr>
            <a:r>
              <a:t>Months 1–6 • Manufacturing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Secure CKD manufacturing site in Tamil Nadu / Maharashtra. Apply for Government PLI auto subsidies.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60320" cy="41148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3716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Consolas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Phase 2: Golden Corridor Hubs</a:t>
            </a:r>
          </a:p>
          <a:p>
            <a:pPr>
              <a:spcBef>
                <a:spcPts val="400"/>
              </a:spcBef>
              <a:defRPr sz="850">
                <a:solidFill>
                  <a:srgbClr val="38BDF8"/>
                </a:solidFill>
                <a:latin typeface="Consolas"/>
              </a:defRPr>
            </a:pPr>
            <a:r>
              <a:t>Months 6–12 • Commercial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Establish 15 flagship experience hubs across Mumbai, Bengaluru, Pune, Delhi NCR, and Hyderabad.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560320" cy="41148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3716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Consolas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Phase 3: Fast-Charging JV</a:t>
            </a:r>
          </a:p>
          <a:p>
            <a:pPr>
              <a:spcBef>
                <a:spcPts val="400"/>
              </a:spcBef>
              <a:defRPr sz="850">
                <a:solidFill>
                  <a:srgbClr val="10B981"/>
                </a:solidFill>
                <a:latin typeface="Consolas"/>
              </a:defRPr>
            </a:pPr>
            <a:r>
              <a:t>Months 9–15 • Ecosystem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Partner with Tata Power / Jio-BP for 250 high-speed 120kW chargers on major inter-city expressways.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560320" cy="4114800"/>
          </a:xfrm>
          <a:prstGeom prst="roundRect">
            <a:avLst/>
          </a:prstGeom>
          <a:solidFill>
            <a:srgbClr val="0E1424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3716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Consolas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Phase 4: Commercial Rollout</a:t>
            </a:r>
          </a:p>
          <a:p>
            <a:pPr>
              <a:spcBef>
                <a:spcPts val="400"/>
              </a:spcBef>
              <a:defRPr sz="850">
                <a:solidFill>
                  <a:srgbClr val="A855F7"/>
                </a:solidFill>
                <a:latin typeface="Consolas"/>
              </a:defRPr>
            </a:pPr>
            <a:r>
              <a:t>Month 18 • Public Launch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  <a:latin typeface="Calibri"/>
              </a:defRPr>
            </a:pPr>
            <a:r>
              <a:t>Official launch of AtliQ Terra-E with first customer deliveries and software subscription activations.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0E192D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Prepared by AtliQ Strategic Analytics • Approved for C-Suite Decision • Backed by 57.2M Verified Registrations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